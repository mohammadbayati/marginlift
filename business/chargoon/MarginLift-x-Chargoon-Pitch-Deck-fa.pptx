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hargoon.com/" TargetMode="External"/><Relationship Id="rId2" Type="http://schemas.openxmlformats.org/officeDocument/2006/relationships/hyperlink" Target="https://chargoon.com/logo/" TargetMode="External"/><Relationship Id="rId3" Type="http://schemas.openxmlformats.org/officeDocument/2006/relationships/hyperlink" Target="https://digiato.com/iran-technology-news/chargoon-interview-rebranding" TargetMode="External"/><Relationship Id="rId4" Type="http://schemas.openxmlformats.org/officeDocument/2006/relationships/hyperlink" Target="https://marginlift.ir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gh\.codex\.chatgpt-projects\g-p-6a7324cf94a88191a59968ec94096131\outputs\049-demo\business\chargoon\assets\logo\Fa\logo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438912"/>
            <a:ext cx="786384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0" y="667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چارگون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39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محصولی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60520" y="1783080"/>
            <a:ext cx="7315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داده سازمانی</a:t>
            </a:r>
            <a:endParaRPr lang="en-US" sz="3800" dirty="0"/>
          </a:p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 تصمیم قابل‌اندازه‌گیری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3529584"/>
            <a:ext cx="690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DDE5E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 تصمیم علّی برای نگهداشت مشتری و تخصیص هوشمند مشوق؛ مکمل محصولات هوش مصنوعی، هوش تجاری و تعامل‌پذیری چارگون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915400" y="4681728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4681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سنجش نتیجه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4681728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4681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سیاست مشوق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11880" y="4681728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03320" y="4681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نگهداشت مشتری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56509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خطاب به جناب آقای شاهین طبری، بنیان‌گذار و رئیس هیئت‌مدیره چارگون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687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AEB9B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مرداد ۱۴۰۵  |  marginlift.ir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" y="1389888"/>
            <a:ext cx="2487168" cy="2487168"/>
          </a:xfrm>
          <a:prstGeom prst="ellipse">
            <a:avLst/>
          </a:prstGeom>
          <a:solidFill>
            <a:srgbClr val="080B09">
              <a:alpha val="0"/>
            </a:srgbClr>
          </a:solidFill>
          <a:ln w="25400">
            <a:solidFill>
              <a:srgbClr val="046A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1828800"/>
            <a:ext cx="1609344" cy="1609344"/>
          </a:xfrm>
          <a:prstGeom prst="ellipse">
            <a:avLst/>
          </a:prstGeom>
          <a:solidFill>
            <a:srgbClr val="046A38">
              <a:alpha val="85000"/>
            </a:srgbClr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72768" y="2304288"/>
            <a:ext cx="658368" cy="658368"/>
          </a:xfrm>
          <a:prstGeom prst="ellipse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12848" y="2633472"/>
            <a:ext cx="141732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این گفتگو منطقی است؟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چارگون زیرساخت این همکاری را از قبل ساخته است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 روی یک جهت‌گیری موجود سوار می‌شود، نه روی یک فرض تازه.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65960"/>
            <a:ext cx="2542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۰۱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آسا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سازمانی با استقرار درون‌سازمانی و معماری ماژولار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9584" y="1965960"/>
            <a:ext cx="2542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4176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۰۲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BI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127248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تبدیل داده‌های عملیاتی به بینش مدیریتی و تصمیم‌سازی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45936" y="1965960"/>
            <a:ext cx="2542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۰۳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API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3127248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تعامل‌پذیری مستند برای اتصال سامانه‌ها و حذف جزیره‌های داده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62288" y="1965960"/>
            <a:ext cx="2542032" cy="2331720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۰۴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6345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اکوسیستم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363456" y="3127248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چشم‌انداز همکاری با محصولات مکمل و ایجاد ارزش جدید برای مشتریان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" y="4663440"/>
            <a:ext cx="10972800" cy="1024128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48554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فرصت مشترک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" y="5102352"/>
            <a:ext cx="10305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2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افزودن یک موتور تخصصی برای تصمیم‌های نگهداشت و مشوق؛ با استقرار امن، اتصال API و سنجش نتیجه واقعی.</a:t>
            </a:r>
            <a:endParaRPr lang="en-US" sz="1720" dirty="0"/>
          </a:p>
        </p:txBody>
      </p:sp>
      <p:sp>
        <p:nvSpPr>
          <p:cNvPr id="25" name="Shape 2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مکمل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 «بینش» و «اقدام» یک تصمیم اقتصادی وجود دارد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هدف، توسعه قابلیت‌های چارگون است؛ نه تکرار BI یا جایگزینی سامانه‌های موجود.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03120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2267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7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 اتفاقی افتاد؟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606040" y="2578608"/>
            <a:ext cx="237744" cy="420624"/>
          </a:xfrm>
          <a:prstGeom prst="chevron">
            <a:avLst/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16936" y="2103120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72384" y="2267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25786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بینش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29260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7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رخ داد؟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4864608" y="2578608"/>
            <a:ext cx="237744" cy="420624"/>
          </a:xfrm>
          <a:prstGeom prst="chevron">
            <a:avLst/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2103120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30952" y="2267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25786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29260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7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 کسی در معرض ریسک است؟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123176" y="2578608"/>
            <a:ext cx="237744" cy="420624"/>
          </a:xfrm>
          <a:prstGeom prst="chevron">
            <a:avLst/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34072" y="2103120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111A16"/>
          </a:solidFill>
          <a:ln w="15240">
            <a:solidFill>
              <a:srgbClr val="111A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2267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98664" y="25786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98664" y="29260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70" dirty="0">
                <a:solidFill>
                  <a:srgbClr val="DCE6E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چه کسی، چه اقدامی؟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9381744" y="2578608"/>
            <a:ext cx="237744" cy="420624"/>
          </a:xfrm>
          <a:prstGeom prst="chevron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111A16"/>
          </a:solidFill>
          <a:ln w="15240">
            <a:solidFill>
              <a:srgbClr val="111A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48088" y="2267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اثبات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29260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70" dirty="0">
                <a:solidFill>
                  <a:srgbClr val="DCE6E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آیا اقدام واقعاً سود ساخت؟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58368" y="3977640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418795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3312C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 چه نیست؟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5537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CRM نیست، ابزار ارسال کمپین نیست، داشبورد عمومی نیست و جایگزین آسا یا BI نمی‌شود.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91072" y="3977640"/>
            <a:ext cx="5394960" cy="1389888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32520" y="418795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 چه اضافه می‌کند؟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553712"/>
            <a:ext cx="4736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سیاست اقدام مشتری‌محور، کنترل هزینه مشوق و حلقه اندازه‌گیری اثر افزایشی.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0" y="566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اصل تصمیم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86200" y="96012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ریسک بالا، مجوز تخفیف نیست.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166360" y="1746504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9E3D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باید بین «احتمال ریزش» و «اثر واقعی اقدام» تفاوت بگذارد.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5074920" cy="1371600"/>
          </a:xfrm>
          <a:prstGeom prst="rect">
            <a:avLst/>
          </a:prstGeom>
          <a:solidFill>
            <a:srgbClr val="17221C"/>
          </a:solidFill>
          <a:ln w="19050">
            <a:solidFill>
              <a:srgbClr val="046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2816352"/>
            <a:ext cx="420624" cy="420624"/>
          </a:xfrm>
          <a:prstGeom prst="ellipse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734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مشوق می‌ماند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369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هزینه نکنید؛ تجربه را حفظ کنید.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91072" y="2514600"/>
            <a:ext cx="5074920" cy="1371600"/>
          </a:xfrm>
          <a:prstGeom prst="rect">
            <a:avLst/>
          </a:prstGeom>
          <a:solidFill>
            <a:srgbClr val="17221C"/>
          </a:solidFill>
          <a:ln w="19050">
            <a:solidFill>
              <a:srgbClr val="C4D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4472" y="2816352"/>
            <a:ext cx="420624" cy="420624"/>
          </a:xfrm>
          <a:prstGeom prst="ellipse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2734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اقدام درست برمی‌گردد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2369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اقدام و مشوق را دقیق هدف‌گذاری کنید.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5074920" cy="1371600"/>
          </a:xfrm>
          <a:prstGeom prst="rect">
            <a:avLst/>
          </a:prstGeom>
          <a:solidFill>
            <a:srgbClr val="17221C"/>
          </a:solidFill>
          <a:ln w="19050">
            <a:solidFill>
              <a:srgbClr val="B36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4553712"/>
            <a:ext cx="420624" cy="420624"/>
          </a:xfrm>
          <a:prstGeom prst="ellipse">
            <a:avLst/>
          </a:prstGeom>
          <a:solidFill>
            <a:srgbClr val="B36B00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471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حتی با مشوق برنمی‌گردد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974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هزینه را متوقف و علت را بررسی کنید.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291072" y="4251960"/>
            <a:ext cx="5074920" cy="1371600"/>
          </a:xfrm>
          <a:prstGeom prst="rect">
            <a:avLst/>
          </a:prstGeom>
          <a:solidFill>
            <a:srgbClr val="17221C"/>
          </a:solidFill>
          <a:ln w="19050">
            <a:solidFill>
              <a:srgbClr val="B331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34472" y="4553712"/>
            <a:ext cx="420624" cy="420624"/>
          </a:xfrm>
          <a:prstGeom prst="ellipse">
            <a:avLst/>
          </a:prstGeom>
          <a:solidFill>
            <a:srgbClr val="B3312C"/>
          </a:solidFill>
          <a:ln w="12700">
            <a:solidFill>
              <a:srgbClr val="B331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4471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اقدام ممکن است نتیجه را بدتر کند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974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تماس یا مشوق را محدود کنید.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989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تجاری: پیام کمتر، هزینه کمتر، اثر قابل‌دفاع‌تر.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موتور محصول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داده خام تا تصمیمی که قابل ممیزی است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مرحله یک خروجی روشن و یک سطح شواهد مشخص دارد.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340156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9856" y="2057400"/>
            <a:ext cx="420624" cy="420624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20619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391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امن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51460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شناسه ناشناس، رویداد، تراکنش، هزینه، outcome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498848" y="1874520"/>
            <a:ext cx="340156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057400"/>
            <a:ext cx="420624" cy="420624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0619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0391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آمادگی داده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251460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کنترل، کیفیت نمونه، پنجره نتیجه و حاشیه سود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302752" y="1874520"/>
            <a:ext cx="340156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27664" y="2057400"/>
            <a:ext cx="420624" cy="420624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027664" y="20619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0391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ریسک و زمان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51460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احتمال ریزش و زمان تقریبی خرید بعدی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94944" y="3721608"/>
            <a:ext cx="340156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9856" y="3904488"/>
            <a:ext cx="420624" cy="420624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9856" y="39090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38862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اثر افزایشی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361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 کسی فقط در صورت اقدام تغییر رفتار می‌دهد؟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498848" y="3721608"/>
            <a:ext cx="3401568" cy="1435608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904488"/>
            <a:ext cx="420624" cy="420624"/>
          </a:xfrm>
          <a:prstGeom prst="ellipse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23760" y="39090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00016" y="38862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سیاست اقدام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700016" y="4361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D5DFD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اقدام بعدی، سقف هزینه و موارد «عدم اقدام»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8302752" y="3721608"/>
            <a:ext cx="3401568" cy="1435608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27664" y="3904488"/>
            <a:ext cx="420624" cy="420624"/>
          </a:xfrm>
          <a:prstGeom prst="ellipse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027664" y="39090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38862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حلقه نتیجه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4361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60" dirty="0">
                <a:solidFill>
                  <a:srgbClr val="D5DFD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پیش‌بینی با نتیجه واقعی و تصمیم توسعه یا توقف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694944" y="5632704"/>
            <a:ext cx="10972800" cy="502920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570585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سطح شواهد: برآورد تاریخی  ←  برآورد پایلوت  ←  اثر افزایشی تأییدشده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دموی قابل ارائه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محصول فقط مدل نیست؛ فضای تصمیم است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نسخه نمایشی، مسیر داده، ریسک، اقدام، گروه کنترل و گزارش مدیریتی را در یک جریان واحد نشان می‌دهد.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847088"/>
            <a:ext cx="757123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pic>
        <p:nvPicPr>
          <p:cNvPr id="7" name="Image 0" descr="C:\Users\chagh\.codex\.chatgpt-projects\g-p-6a7324cf94a88191a59968ec94096131\outputs\049-demo\qa-retention-analysi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48256"/>
            <a:ext cx="722376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0496" y="1901952"/>
            <a:ext cx="31272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203911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برداشت اجرایی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6829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ترجمه مدل به زبان مدیر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540496" y="3136392"/>
            <a:ext cx="3127248" cy="932688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3273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صف اقدام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6027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D7E0D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 کسی، چرا، با چه محدودیتی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540496" y="4370832"/>
            <a:ext cx="31272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32520" y="45079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 شواهد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8371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سطح شواهد و ریسک تصمیم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540496" y="5605272"/>
            <a:ext cx="3127248" cy="347472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32520" y="56418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دمو: marginlift.ir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 برای چارگون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قابلیت تخصصی؛ چهار اهرم رشد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هم‌افزایی باید هم محصولی باشد، هم تجاری و هم قابل اثبات.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5184648" cy="1627632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84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05740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تمایز محصولی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24328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DCE5E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روایت «داده به تصمیم» از مشاهده و پیش‌بینی به اقدام و اثبات نتیجه.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1846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084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05740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درآمد مکمل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24328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امکان بسته مشترک، عرضه در بازارگاه یا مدل co-sell پس از پایلوت موفق.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1846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1422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411480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شاهد مشتری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681728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تبدیل یک پروژه تحلیلی به مطالعه موردی با شاخص مالی و تصمیم توسعه یا توقف.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1846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4808" y="41422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411480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عمق اکوسیستم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681728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افزودن یک سرویس تخصصی به Open API و آسا، بدون ساخت کامل آن از صفر.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بهترین نقطه شروع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مشتریانی با خرید تکرارشونده و هزینه بالای نگهداشت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نام صنایع از سبد عمومی مشتریان چارگون استخراج شده؛ انتخاب پایلوت به دسترسی داده و مالک کسب‌وکار وابسته است.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28800"/>
            <a:ext cx="10936224" cy="749808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58200" y="195681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خرده‌فروشی و زنجیره‌ای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956816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تخفیف همگانی، افزایش خرید مجدد، کنترل حاشیه سود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761488"/>
            <a:ext cx="1093622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58200" y="28895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بانک، پرداخت و فین‌تک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889504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بازگشت به تراکنش، فعال‌سازی خدمت و اولویت‌بندی تماس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3694176"/>
            <a:ext cx="10936224" cy="749808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382219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بیمه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822192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تمدید، فروش مکمل و پیشگیری از ریزش بیمه‌گذار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4626864"/>
            <a:ext cx="1093622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47548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اشتراکی و وفاداری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4754880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بهینه‌سازی پیشنهاد، کانال و زمان اقدام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5650992"/>
            <a:ext cx="10936224" cy="530352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724144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معیار انتخاب پایلوت: چرخه خرید قابل‌اندازه‌گیری + هزینه اقدام مشخص + امکان ساخت control/holdout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پایلوت مشترک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اول یک تصمیم را اثبات کنیم؛ بعد آن را محصول کنیم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مدت اجرا به چرخه خرید مشتری وابسته است؛ مسیر پیشنهادی بین ۶ تا ۱۰ هفته.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901952"/>
            <a:ext cx="253288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2121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21214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فاز 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688336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آمادگی و قرارداد داده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410712"/>
            <a:ext cx="2075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 تا ۲ هفته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858768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Data readiness، baseline، معیار موفقیت و تعریف outcome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502152" y="1901952"/>
            <a:ext cx="253288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2121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56632" y="21214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فاز ۱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688336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طراحی policy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410712"/>
            <a:ext cx="2075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 تا ۲ هفته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3858768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ریسک، زمان خرید، گروه هدف، هزینه مجاز و طراحی holdout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300216" y="1901952"/>
            <a:ext cx="253288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63256" y="2121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54696" y="21214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فاز ۲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2688336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اجرای کنترل‌شده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28816" y="3410712"/>
            <a:ext cx="2075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تا ۶ هفته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28816" y="3858768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کمپین کوچک، ثبت exposure و outcome، پایش guardrail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098280" y="1901952"/>
            <a:ext cx="2532888" cy="3035808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61320" y="2121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52760" y="21214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فاز ۳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688336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گزارش و تصمیم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3410712"/>
            <a:ext cx="2075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روز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858768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20" dirty="0">
                <a:solidFill>
                  <a:srgbClr val="D9E2D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اثر افزایشی، بازده، علت اختلاف و تصمیم توسعه / بازبینی / توقف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04088" y="5285232"/>
            <a:ext cx="10972800" cy="685800"/>
          </a:xfrm>
          <a:prstGeom prst="rect">
            <a:avLst/>
          </a:prstGeom>
          <a:solidFill>
            <a:srgbClr val="FFF5E7"/>
          </a:solidFill>
          <a:ln w="12700">
            <a:solidFill>
              <a:srgbClr val="F2D5A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4120" y="54315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B36B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قانون اعتماد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413248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گروه کنترل سالم، هیچ ادعای علّی یا صرفه‌جویی تأییدشده ارائه نمی‌شود.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اعتماد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داخل سازمان می‌ماند؛ تصمیم قابل ممیزی بیرون می‌آید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معماری با منطق On-Premise، Docker و کنترل دسترسی چارگون هم‌راستا طراحی می‌شود.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93392"/>
            <a:ext cx="243230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677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سامانه‌های مشتری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تراکنش، رفتار، CRM یا وفاداری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108960" y="2578608"/>
            <a:ext cx="256032" cy="457200"/>
          </a:xfrm>
          <a:prstGeom prst="chevron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993392"/>
            <a:ext cx="243230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2677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 اتصال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8163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API مستند یا Batch رمزگذاری‌شده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61888" y="2578608"/>
            <a:ext cx="256032" cy="457200"/>
          </a:xfrm>
          <a:prstGeom prst="chevron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993392"/>
            <a:ext cx="2432304" cy="1627632"/>
          </a:xfrm>
          <a:prstGeom prst="roundRect">
            <a:avLst>
              <a:gd name="adj" fmla="val 4494"/>
            </a:avLst>
          </a:prstGeom>
          <a:solidFill>
            <a:srgbClr val="111A16"/>
          </a:solidFill>
          <a:ln w="15240">
            <a:solidFill>
              <a:srgbClr val="111A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22677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موتور مارجین‌لیفت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8163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120" dirty="0">
                <a:solidFill>
                  <a:srgbClr val="D9E2D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تحلیل، سیاست اقدام، گروه کنترل و نتیجه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814816" y="2578608"/>
            <a:ext cx="256032" cy="457200"/>
          </a:xfrm>
          <a:prstGeom prst="chevron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0576" y="1993392"/>
            <a:ext cx="243230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5240">
            <a:solidFill>
              <a:srgbClr val="D9E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81744" y="22677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دیدگاه / آسا / BI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81744" y="28163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1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نمایش، گردش کار، گزارش و تصمیم مدیر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58952" y="4279392"/>
            <a:ext cx="2468880" cy="1033272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" y="44256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2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PII حداقلی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923544" y="47548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0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شناسه Hash شده؛ بدون نیاز به نام و شماره تماس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502152" y="4279392"/>
            <a:ext cx="2468880" cy="1033272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66744" y="44256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2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تفکیک شواهد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3666744" y="47548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0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Historical، Pilot و Verified به‌صورت روشن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245352" y="4279392"/>
            <a:ext cx="2468880" cy="1033272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44256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2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دسترسی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47548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0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نقش‌ها، ثبت ممیزی و نگهداری نسخه سیاست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988552" y="4279392"/>
            <a:ext cx="2468880" cy="1033272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53144" y="44256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2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 محافظه‌کار</a:t>
            </a:r>
            <a:endParaRPr lang="en-US" sz="132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47548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en-US" sz="102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اقدام پیش‌فرض در نبود شواهد کافی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همکاری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سه مسیر؛ یک نقطه شروع کم‌ریسک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ما این است که مدل نهایی همکاری را پس از مشاهده نتیجه پایلوت انتخاب کنیم.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74520"/>
            <a:ext cx="3383280" cy="3310128"/>
          </a:xfrm>
          <a:prstGeom prst="rect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84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5786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پایلوت هم‌برند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355848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30" dirty="0">
                <a:solidFill>
                  <a:srgbClr val="D9E2D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 اجرا می‌کند؛ چارگون sponsor محصول و دسترسی به مشتری مناسب را فراهم می‌کند.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2340864" y="463600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32304" y="4636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شروع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33832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2084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5786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عرضه مشترک / بازارگاه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355848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3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پس از اثبات، بسته تجاری مشترک با سهم درآمد و مسئولیت‌های روشن عرضه می‌شود.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108192" y="463600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4636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پس از اثبات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47888" y="1874520"/>
            <a:ext cx="33832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7344" y="2084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5786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ماژول اختصاصی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355848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3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صورت کشش بازار، تجربه کاربری و استقرار با برند و اکوسیستم چارگون یکپارچه می‌شود.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9875520" y="463600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636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 مقیاس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5532120"/>
            <a:ext cx="10972800" cy="502920"/>
          </a:xfrm>
          <a:prstGeom prst="rect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614416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6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چارچوب تجاری: ارزیابی داده + پایلوت ثابت + سهم درآمد فقط از نتیجه تأییدشده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566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تصمیم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794760" y="978408"/>
            <a:ext cx="7635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جلسه ۶۰ دقیقه‌ای برای تعیین</a:t>
            </a:r>
            <a:endParaRPr lang="en-US" sz="3300" dirty="0"/>
          </a:p>
          <a:p>
            <a:pPr rtl="1" algn="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«اولین تصمیم قابل اثبات»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863072" y="2542032"/>
            <a:ext cx="420624" cy="420624"/>
          </a:xfrm>
          <a:prstGeom prst="ellipse">
            <a:avLst/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3072" y="254660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252374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هم‌راستاسازی محصول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23744"/>
            <a:ext cx="6236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حضور نمایندگان محصول، آسا، هوش تجاری، تعامل‌پذیری و امنیت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863072" y="3291840"/>
            <a:ext cx="420624" cy="420624"/>
          </a:xfrm>
          <a:prstGeom prst="ellipse">
            <a:avLst/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63072" y="32964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327355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انتخاب پایلوت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73552"/>
            <a:ext cx="6236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مشتری با خرید تکرارشونده و مالک شاخص روشن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63072" y="4041648"/>
            <a:ext cx="420624" cy="420624"/>
          </a:xfrm>
          <a:prstGeom prst="ellipse">
            <a:avLst/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63072" y="404622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0233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 داده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023360"/>
            <a:ext cx="6236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توافق روی حداقل ستون‌ها، تعریف نتیجه و محدودیت‌های امنیتی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63072" y="4791456"/>
            <a:ext cx="420624" cy="420624"/>
          </a:xfrm>
          <a:prstGeom prst="ellipse">
            <a:avLst/>
          </a:prstGeom>
          <a:solidFill>
            <a:srgbClr val="163226"/>
          </a:solidFill>
          <a:ln w="12700">
            <a:solidFill>
              <a:srgbClr val="1632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863072" y="47960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77316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معیار موفقیت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773168"/>
            <a:ext cx="6236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6D0C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آستانه توسعه، بازبینی یا توقف قبل از اجرا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760720"/>
            <a:ext cx="10698480" cy="0"/>
          </a:xfrm>
          <a:prstGeom prst="line">
            <a:avLst/>
          </a:prstGeom>
          <a:noFill/>
          <a:ln w="12700">
            <a:solidFill>
              <a:srgbClr val="2A39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5961888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C4D6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اول یک تصمیم را اثبات کنیم؛ بعد آن را محصول کنیم.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80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marginlift.ir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0" y="384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پیوست دقت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عمومی و حدود ادعا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984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هیچ عدد مالی، دقت مدل یا نتیجه مشتری در این پیشنهاد ادعا نشده است.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94592" y="347472"/>
            <a:ext cx="73152" cy="960120"/>
          </a:xfrm>
          <a:prstGeom prst="rect">
            <a:avLst/>
          </a:prstGeom>
          <a:solidFill>
            <a:srgbClr val="C4D600"/>
          </a:solidFill>
          <a:ln w="12700">
            <a:solidFill>
              <a:srgbClr val="C4D6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0" y="18470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2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سایت رسمی چارگون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8470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محصولات دیدگاه، آسا، BI، دیدگاه ۳۶۰، API، امنیت و مشتریان</a:t>
            </a:r>
            <a:endParaRPr lang="en-US" sz="108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822960" y="1847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u="sng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https://chargoon.com/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2441448"/>
            <a:ext cx="10469880" cy="0"/>
          </a:xfrm>
          <a:prstGeom prst="line">
            <a:avLst/>
          </a:prstGeom>
          <a:noFill/>
          <a:ln w="7620">
            <a:solidFill>
              <a:srgbClr val="D9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2743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2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راهنمای برند چارگون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743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فلسفه ساده‌سازی پیچیدگی‌ها، رنگ‌ها و قواعد هم‌نشینی برند</a:t>
            </a:r>
            <a:endParaRPr lang="en-US" sz="1080" dirty="0"/>
          </a:p>
        </p:txBody>
      </p:sp>
      <p:sp>
        <p:nvSpPr>
          <p:cNvPr id="12" name="Text 10">
            <a:hlinkClick r:id="rId2" tooltip=""/>
          </p:cNvPr>
          <p:cNvSpPr txBox="1"/>
          <p:nvPr/>
        </p:nvSpPr>
        <p:spPr>
          <a:xfrm>
            <a:off x="8229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u="sng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https://chargoon.com/logo/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10469880" cy="0"/>
          </a:xfrm>
          <a:prstGeom prst="line">
            <a:avLst/>
          </a:prstGeom>
          <a:noFill/>
          <a:ln w="7620">
            <a:solidFill>
              <a:srgbClr val="D9E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36393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2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گفت‌وگوی مدیران چارگون با دیجیاتو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6393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H2H، AI محلی، تجربه کاربری و چشم‌انداز بازارگاه</a:t>
            </a:r>
            <a:endParaRPr lang="en-US" sz="1080" dirty="0"/>
          </a:p>
        </p:txBody>
      </p:sp>
      <p:sp>
        <p:nvSpPr>
          <p:cNvPr id="16" name="Text 14">
            <a:hlinkClick r:id="rId3" tooltip=""/>
          </p:cNvPr>
          <p:cNvSpPr txBox="1"/>
          <p:nvPr/>
        </p:nvSpPr>
        <p:spPr>
          <a:xfrm>
            <a:off x="822960" y="3639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u="sng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https://digiato.com/iran-technology-news/chargoon-interview-rebranding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822960" y="4233672"/>
            <a:ext cx="10469880" cy="0"/>
          </a:xfrm>
          <a:prstGeom prst="line">
            <a:avLst/>
          </a:prstGeom>
          <a:noFill/>
          <a:ln w="7620">
            <a:solidFill>
              <a:srgbClr val="D9E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45354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2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نسخه نمایشی مارجین‌لیفت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5354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قابلیت‌های فعلی محصول و دموی قابل ارائه</a:t>
            </a:r>
            <a:endParaRPr lang="en-US" sz="1080" dirty="0"/>
          </a:p>
        </p:txBody>
      </p:sp>
      <p:sp>
        <p:nvSpPr>
          <p:cNvPr id="20" name="Text 18">
            <a:hlinkClick r:id="rId4" tooltip=""/>
          </p:cNvPr>
          <p:cNvSpPr txBox="1"/>
          <p:nvPr/>
        </p:nvSpPr>
        <p:spPr>
          <a:xfrm>
            <a:off x="822960" y="4535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u="sng" dirty="0">
                <a:solidFill>
                  <a:srgbClr val="046A3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https://marginlift.ir/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22960" y="5129784"/>
            <a:ext cx="10469880" cy="0"/>
          </a:xfrm>
          <a:prstGeom prst="line">
            <a:avLst/>
          </a:prstGeom>
          <a:noFill/>
          <a:ln w="7620">
            <a:solidFill>
              <a:srgbClr val="D9E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14416"/>
            <a:ext cx="10469880" cy="502920"/>
          </a:xfrm>
          <a:prstGeom prst="rect">
            <a:avLst/>
          </a:prstGeom>
          <a:solidFill>
            <a:srgbClr val="FFF5E7"/>
          </a:solidFill>
          <a:ln w="12700">
            <a:solidFill>
              <a:srgbClr val="F2D5A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56875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11A1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سند پیشنهاد اولیه و غیرالزام‌آور است؛ دامنه، قیمت، مسئولیت‌ها و الزامات حقوقی پس از Discovery مشترک نهایی می‌شوند.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noFill/>
          <a:ln w="8890">
            <a:solidFill>
              <a:srgbClr val="D9E1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65653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همکاری اولیه | محرمانه و غیرالزام‌آور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565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MarginLift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از داده سازمانی تا تصمیم قابل‌اندازه‌گیری</dc:title>
  <dc:subject>پیشنهاد همکاری MarginLift و چارگون</dc:subject>
  <dc:creator>MarginLift</dc:creator>
  <cp:lastModifiedBy>MarginLift</cp:lastModifiedBy>
  <cp:revision>1</cp:revision>
  <dcterms:created xsi:type="dcterms:W3CDTF">2026-08-10T12:52:35Z</dcterms:created>
  <dcterms:modified xsi:type="dcterms:W3CDTF">2026-08-10T12:52:35Z</dcterms:modified>
</cp:coreProperties>
</file>